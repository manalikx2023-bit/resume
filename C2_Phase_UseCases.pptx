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914400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16368" y="914400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0416" y="914400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914400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298448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16368" y="1298448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0416" y="1298448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84464" y="1298448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682496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16368" y="1682496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0416" y="1682496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682496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066544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6368" y="2066544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00416" y="2066544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2066544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2450592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16368" y="2450592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0416" y="2450592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84464" y="2450592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834640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16368" y="2834640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0416" y="2834640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2834640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3218688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6368" y="3218688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0416" y="3218688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3218688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3602736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16368" y="3602736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00416" y="3602736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84464" y="3602736"/>
            <a:ext cx="109728" cy="109728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1097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B4D8"/>
                </a:solidFill>
              </a:rPr>
              <a:t>C2 PHASE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15544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Use Case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Deep-Dive Proposals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54864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0F2FE"/>
                </a:solidFill>
              </a:rPr>
              <a:t>Covering: Problem Statement · Product Vision · Approach · Prerequisites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E0F2FE"/>
                </a:solidFill>
              </a:rPr>
              <a:t>Value Drivers · Industry Benchmarking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4114800"/>
            <a:ext cx="2011680" cy="292608"/>
          </a:xfrm>
          <a:prstGeom prst="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</a:rPr>
              <a:t>HAZIRA · HSM &amp; CSP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697480" y="4114800"/>
            <a:ext cx="2011680" cy="292608"/>
          </a:xfrm>
          <a:prstGeom prst="rect">
            <a:avLst/>
          </a:prstGeom>
          <a:solidFill>
            <a:srgbClr val="48CAE4">
              <a:alpha val="2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8CAE4"/>
                </a:solidFill>
              </a:rPr>
              <a:t>PUNE · CCL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46320" y="4114800"/>
            <a:ext cx="2011680" cy="292608"/>
          </a:xfrm>
          <a:prstGeom prst="rect">
            <a:avLst/>
          </a:prstGeom>
          <a:solidFill>
            <a:srgbClr val="F4A261">
              <a:alpha val="2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A261"/>
                </a:solidFill>
              </a:rPr>
              <a:t>KHOPOLI · CCL / LOG / GL / SGL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995160" y="4114800"/>
            <a:ext cx="2011680" cy="292608"/>
          </a:xfrm>
          <a:prstGeom prst="rect">
            <a:avLst/>
          </a:prstGeom>
          <a:solidFill>
            <a:srgbClr val="2DC653">
              <a:alpha val="20000"/>
            </a:srgbClr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9516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C653"/>
                </a:solidFill>
              </a:rPr>
              <a:t>GANDHIDHAM · CCL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AC1"/>
                </a:solidFill>
              </a:rPr>
              <a:t>Confidential · Consulting Partner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Scheduling Optimisation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AI-Driven Slab-to-Coil Production Sequencing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HAZIRA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HSM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PLANNING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Manual scheduling of slab-to-coil sequences leads to suboptimal grade mix, excessive changeover losses, and missed delivery targets in the Hot Strip Mill.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An AI-powered scheduling engine that autonomously sequences production to maximize throughput, minimize transition losses, and maintain on-time delivery commitments.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Ingest real-time order book, slab inventory, and grade constraints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Apply ML-based combinatorial optimisation (reinforcement learning / constraint programming)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Generate ranked scheduling scenarios with KPI forecasts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Integrate with L3/MES for seamless plan handoff and feedback loop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L3 MES / order management system data access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Digital slab inventory &amp; quality records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Grade transition matrix (time/cost penalties)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Historical production sequence data (2+ years)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20–35%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Changeover Loss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8–15%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Throughput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10–20%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On-Time Delivery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60–80%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Planning Cycle Time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Tata Steel (Netherlands) deployed AI scheduling in HSM achieving 18% reduction in changeover losses. POSCO (South Korea) reports 12% throughput gain via RL-based sequencing.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01 / 9  ·  HAZIRA  ·  HSM  ·  PLANNING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Predictive Maintenance – HSM Asset Reliability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Sensor-Driven Failure Prediction for Hot Strip Mill Equipment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HAZIRA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HSM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Unplanned breakdowns of critical HSM assets (work rolls, gearboxes, hydraulic systems) cause costly production stoppages and reactive high-cost repairs.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A machine-learning platform that continuously monitors HSM equipment health via existing L1/L2 sensors to predict failures days before occurrence.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Collect signals: roll forces, torques, vibration, hydraulic pressure, motor currents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Build anomaly detection &amp; degradation models per asset class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Generate maintenance alerts with RUL (Remaining Useful Life) estimates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Prioritise work orders via CMMS integration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L1/L2 historian signal access (min. 1 Hz sampling)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Historical failure &amp; maintenance records (2+ years)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Asset hierarchy &amp; CMMS integration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Equipment-specific baseline performance profiles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30–50%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Unplanned Downtime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15–25%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Maintenance Cost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10–20%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Asset Lifespan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25–40%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MTBF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ArcelorMittal Gent deployed vibration-based PdM on HSM gearboxes achieving 38% downtime reduction. ThyssenKrupp Steel reports 22% maintenance cost savings via ML health monitoring.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02 / 9  ·  HAZIRA  ·  HSM  ·  MAINTENANCE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Predictive Maintenance – CSP Asset Reliability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ML-Based Health Monitoring for Compact Strip Production 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HAZIRA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CSP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CSP-specific assets (tunnel furnace refractory, mould, segments, drives) fail unpredictably, disrupting continuous casting and generating high scrap rates.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An AI monitoring solution leveraging existing CSP process signals to predict asset degradation, enabling planned interventions and eliminating unscheduled stops.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Map critical CSP signals: mould temperatures, segment gaps, motor currents, refractory temps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Train multi-variate anomaly detection models per CSP equipment class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Deploy MCSA (Motor Current Signature Analysis) for drive health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Integrate with L2 automation for real-time health dashboards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CSP L1/L2 historian data (mould, furnace, segment sensors)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Historical breakdown logs and maintenance records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Refractory inspection records and lining history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Access to drive/motor current data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40–60%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Mould-Related Breakouts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15–25%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Refractory Campaign Life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10–18%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CSP Yield Loss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20–35%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Emergency Repair Costs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Nucor Steel (USA) deployed sensor-based PdM on CSP mould monitoring, reducing breakout events by 45%. SMS group reports 30% increase in refractory life via ML degradation models.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03 / 9  ·  HAZIRA  ·  CSP  ·  MAINTENANCE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Paint Inventory &amp; Consumption Optimisation – Pune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AI-Enabled Colour Coating Line Paint Management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PUNE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CCL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INVENTORY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Inaccurate paint consumption forecasting leads to excess inventory, frequent stockouts, high wastage, and working capital tied up in colour coating operations at Pune CCL.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An AI-based system that forecasts paint consumption from production plans and process parameters, minimising waste and optimising inventory levels dynamically.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Integrate order book, production schedule, and strip parameters (width, grade, thickness)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Train consumption prediction model using historical coil-level paint data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Generate dynamic replenishment triggers and safety stock recommendations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Provide colour-wise wastage root-cause analytics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Historical paint consumption records per coil/order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CCL process data (strip dimensions, speed, coating weight targets)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ERP/SAP inventory and procurement data access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Paint supplier lead time data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15–25%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Paint Wastage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20–30%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Inventory Carrying Cost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50–70%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Stockout Events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10–15%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Working Capital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SSAB (Sweden) deployed AI paint management across colour lines achieving 22% wastage reduction. Baosteel China reports 18% inventory cost savings via ML-based consumption forecasting.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04 / 9  ·  PUNE  ·  CCL  ·  INVENTORY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Paint Inventory &amp; Consumption Optimisation – Khopoli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AI-Enabled Colour Coating Line Paint Management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KHOPOLI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CCL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INVENTORY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Khopoli CCL faces challenges identical to Pune: over-procurement of low-consumption colours, under-stocking of high-demand variants, and process-linked consumption variability.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Extend the AI paint optimisation platform to Khopoli CCL with site-specific model tuning, creating a multi-site fleet-level inventory intelligence capability.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Deploy common model architecture with Khopoli-specific training data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Capture site-unique variables: coating line speed, oven temperature profiles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Enable cross-site inventory transfer recommendations for shared SKUs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Unified dashboard with site-level and fleet-level views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Khopoli CCL historical paint consumption per coil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Process parameter historian access (coating weight, line speed)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ERP integration for real-time stock visibility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Cross-site logistics cost data for transfer optimisation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15–25%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Paint Wastage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20–30%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Multi-Site Inventory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Enabled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Cross-Site Transfers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25–35%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Procurement Efficiency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Voestalpine (Austria) implemented fleet-level paint AI across 3 CCL sites, achieving 26% total wastage reduction. ArcelorMittal uses cross-site paint pooling driven by ML forecasting.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05 / 9  ·  KHOPOLI  ·  CCL  ·  INVENTORY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Logistics TAT Reduction via AI &amp; Digitalized Workflow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AI-Driven Outbound Material Movement Optimisation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KHOPOLI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LOGISTICS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PROCESS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High truck turnaround times (TAT) at Khopoli plant due to manual dispatch coordination, unoptimised loading sequences, and poor real-time visibility into outbound logistics.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An AI-driven logistics platform with predictive analytics and digitalized workflows that reduces TAT, maximises dispatch efficiency, and provides end-to-end delivery visibility.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Digitalize gate-in/gate-out, weighbridge, and loading bay workflows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Apply ML-based TAT prediction using historical movement and route data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Optimise truck assignment and loading sequencing via AI scheduling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Real-time track-and-trace with exception alerting for delayed shipments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Gate management system (GMS) digitalisation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Weighbridge and dock management system integration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GPS/telematics data for outbound fleet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Historical TAT records and delivery performance data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25–40%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Truck TAT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20–30%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Loading Bay Utilisation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15–25%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Dispatch Accuracy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10–20%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Customer OTIF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JSW Steel implemented AI-driven logistics TAT reduction achieving 35% improvement. Tata Steel's Jamshedpur plant reports 28% TAT reduction via digitalized outbound workflows.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06 / 9  ·  KHOPOLI  ·  LOGISTICS  ·  PROCESS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Agentic Workflow for Planned Maintenance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AI-Orchestrated Autonomous Maintenance Coordination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KHOPOLI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GALVANIZING 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Planned maintenance at Khopoli Galvanizing Line is reactive, poorly coordinated, and relies on manual scheduling — leading to resource conflicts, incomplete tasks, and suboptimal asset uptime.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An AI-orchestrated agentic workflow where intelligent agents autonomously plan, schedule, and coordinate maintenance activities by processing equipment health data, resource availability, and operational constraints.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Deploy AI agents that ingest health alerts, spares availability, and production windows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Autonomously generate maintenance work orders with priority ranking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Coordinate technician scheduling and spare parts logistics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Closed-loop learning: capture outcomes to refine future maintenance plans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PdM system output (health alerts and RUL estimates)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CMMS with real-time work order and technician availability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Spare parts ERP integration with real-time stock visibility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Production schedule API for maintenance window identification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60–80%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Maintenance Planning Time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10–20%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Asset Uptime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30–50%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Maintenance Backlog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20–35%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First-Time Fix Rate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Siemens Energy deployed agentic maintenance AI across turbine fleets achieving 40% reduction in planning overhead. GE Digital reports 25% uptime improvement via autonomous maintenance orchestration.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07 / 9  ·  KHOPOLI  ·  GALVANIZING LINE  ·  MAINTENANCE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Fuel Optimisation in Galvanising Furnace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AI-Driven Thermal Energy Management for Strip Annealing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KHOPOLI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SGL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ENERGY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SGL furnace fuel consumption is suboptimal due to static setpoints that do not respond to strip parameter variations (grade, thickness, width, speed), leading to over-fuelling and energy waste.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An AI system that dynamically adjusts fuel input across furnace zones in real time, based on strip parameters and thermal conditions, minimising energy consumption while maintaining coating quality.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Ingest real-time strip parameters, line speed, and zone temperature feedback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Train zone-wise thermal prediction model using historical furnace data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Deploy closed-loop fuel setpoint optimisation (model-predictive or RL-based)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Integrate with L2 PLC for automated setpoint adjustment with operator override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Zone-wise thermocouple and fuel flow historian data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Strip parameter data (grade, width, thickness, line speed) from L2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Gas meter data and calorific value records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L2 PLC integration capability for setpoint write-back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6–12%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Specific Gas Consumption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6–12%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CO₂ Emissions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50–70%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Over-Fuelling Events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Improved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Furnace Temp Stability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Outokumpu (Finland) deployed AI furnace optimisation in annealing lines achieving 9% gas reduction. Aperam (Belgium) reports 11% specific energy savings via ML-based furnace setpoint control.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08 / 9  ·  KHOPOLI  ·  SGL  ·  ENERGY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9728"/>
            <a:ext cx="621792" cy="62179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931"/>
                </a:solidFill>
              </a:rPr>
              <a:t>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91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Paint Inventory &amp; Consumption Optimisation – Gandhidham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548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F2FE"/>
                </a:solidFill>
              </a:rPr>
              <a:t>AI-Enabled Colour Coating Line Paint Management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78040" y="10972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09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GANDHIDHAM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7804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CCL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18120" y="41148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2A4A7A"/>
          </a:solidFill>
          <a:ln w="12700">
            <a:solidFill>
              <a:srgbClr val="2A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11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931"/>
                </a:solidFill>
              </a:rPr>
              <a:t>INVENTORY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" y="1005840"/>
            <a:ext cx="2999232" cy="237744"/>
          </a:xfrm>
          <a:prstGeom prst="rect">
            <a:avLst/>
          </a:prstGeom>
          <a:solidFill>
            <a:srgbClr val="E63946">
              <a:alpha val="8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❶ WHAT TO SOLVE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Gandhidham CCL experiences paint inventory imbalances driven by order mix variability, long supplier lead times, and lack of visibility into consumption patterns across colour variants.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72384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005840"/>
            <a:ext cx="2999232" cy="237744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❷ PRODUCT VISION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82112" y="1280160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Deploy the AI paint optimisation platform at Gandhidham CCL, completing a fleet-wide roll-out across all three CCL sites with a unified analytics layer for enterprise-level insights.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08192" y="1005840"/>
            <a:ext cx="2999232" cy="237744"/>
          </a:xfrm>
          <a:prstGeom prst="rect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014984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❸ APPROACH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1280160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Extend multi-site AI platform with Gandhidham-specific order mix and route data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Incorporate supplier lead time and logistics constraints unique to Gandhidham location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Enable enterprise-wide paint procurement pooling and contract negotiation intelligence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Deliver unified 3-site performance dashboard to supply chain leadership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" y="2999232"/>
            <a:ext cx="2999232" cy="237744"/>
          </a:xfrm>
          <a:prstGeom prst="rect">
            <a:avLst/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❹ PREREQUISITES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" y="3273552"/>
            <a:ext cx="2834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Gandhidham CCL historical consumption and process data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ERP/SAP integration for inventory and procurement visibility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Supplier lead time and freight cost data</a:t>
            </a:r>
            <a:endParaRPr lang="en-US" sz="88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E0F2FE"/>
                </a:solidFill>
              </a:rPr>
              <a:t>Enterprise data platform connectivity across Pune, Khopoli, and Gandhidham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072384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2DC6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72384" y="2999232"/>
            <a:ext cx="2999232" cy="237744"/>
          </a:xfrm>
          <a:prstGeom prst="rect">
            <a:avLst/>
          </a:prstGeom>
          <a:solidFill>
            <a:srgbClr val="2DC653">
              <a:alpha val="85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❺ VALUE DRIVERS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18–28%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0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Paint Wastage (Fleet)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90288" y="3291840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33284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8–15%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26864" y="3657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Procurement Cost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63824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↓ 20–30%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200400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Enterprise Inventory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90288" y="4133088"/>
            <a:ext cx="1371600" cy="786384"/>
          </a:xfrm>
          <a:prstGeom prst="rect">
            <a:avLst/>
          </a:prstGeom>
          <a:solidFill>
            <a:srgbClr val="1A3560"/>
          </a:solidFill>
          <a:ln w="10160">
            <a:solidFill>
              <a:srgbClr val="2DC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4169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</a:rPr>
              <a:t>↑ Data-driven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26864" y="449884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1"/>
                </a:solidFill>
              </a:rPr>
              <a:t>Supplier Negotiations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08192" y="2999232"/>
            <a:ext cx="2999232" cy="1956816"/>
          </a:xfrm>
          <a:prstGeom prst="rect">
            <a:avLst/>
          </a:prstGeom>
          <a:solidFill>
            <a:srgbClr val="112240"/>
          </a:solidFill>
          <a:ln w="1524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08192" y="2999232"/>
            <a:ext cx="2999232" cy="237744"/>
          </a:xfrm>
          <a:prstGeom prst="rect">
            <a:avLst/>
          </a:prstGeom>
          <a:solidFill>
            <a:srgbClr val="9D4EDD">
              <a:alpha val="8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08376"/>
            <a:ext cx="2862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❻ INDUSTRY BENCHMARK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17920" y="3273552"/>
            <a:ext cx="2798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0F2FE"/>
                </a:solidFill>
              </a:rPr>
              <a:t>Nippon Steel (Japan) achieved 24% paint cost reduction via AI-based multi-plant inventory optimisation across 4 CCL sites. Salzgitter AG reports 20% wastage reduction with fleet-level paint AI.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1"/>
                </a:solidFill>
              </a:rPr>
              <a:t>USE CASE 09 / 9  ·  GANDHIDHAM  ·  CCL  ·  INVENTORY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</a:rPr>
              <a:t>9 USE CASES · 4 SITES · MULTIPLE FUNCTIONS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Ready for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C2 Phase Validation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F2FE"/>
                </a:solidFill>
              </a:rPr>
              <a:t>Next Steps: Business Validation · Data Assessment · Pilot Scoping · ROI Finalisation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1554480" cy="685800"/>
          </a:xfrm>
          <a:prstGeom prst="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F2FE"/>
                </a:solidFill>
              </a:rPr>
              <a:t>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3931920"/>
            <a:ext cx="1554480" cy="685800"/>
          </a:xfrm>
          <a:prstGeom prst="rect">
            <a:avLst/>
          </a:prstGeom>
          <a:solidFill>
            <a:srgbClr val="48CAE4">
              <a:alpha val="20000"/>
            </a:srgbClr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8CAE4"/>
                </a:solidFill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26080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F2FE"/>
                </a:solidFill>
              </a:rPr>
              <a:t>Maintenance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554480" cy="685800"/>
          </a:xfrm>
          <a:prstGeom prst="rect">
            <a:avLst/>
          </a:prstGeom>
          <a:solidFill>
            <a:srgbClr val="F4A261">
              <a:alpha val="20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F2FE"/>
                </a:solidFill>
              </a:rPr>
              <a:t>Energy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3931920"/>
            <a:ext cx="1554480" cy="685800"/>
          </a:xfrm>
          <a:prstGeom prst="rect">
            <a:avLst/>
          </a:prstGeom>
          <a:solidFill>
            <a:srgbClr val="2DC653">
              <a:alpha val="20000"/>
            </a:srgbClr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C653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4315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F2FE"/>
                </a:solidFill>
              </a:rPr>
              <a:t>Inventory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1"/>
                </a:solidFill>
              </a:rPr>
              <a:t>Confidential · Consulting Partner Engagement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C2 Phase Use Cases – Deep Dive</dc:title>
  <dc:subject>PptxGenJS Presentation</dc:subject>
  <dc:creator>PptxGenJS</dc:creator>
  <cp:lastModifiedBy>PptxGenJS</cp:lastModifiedBy>
  <cp:revision>1</cp:revision>
  <dcterms:created xsi:type="dcterms:W3CDTF">2026-04-15T05:12:20Z</dcterms:created>
  <dcterms:modified xsi:type="dcterms:W3CDTF">2026-04-15T05:12:20Z</dcterms:modified>
</cp:coreProperties>
</file>