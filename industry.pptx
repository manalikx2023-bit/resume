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438912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2099462"/>
            <a:ext cx="347472" cy="2381098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572000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449056" y="1792224"/>
            <a:ext cx="347472" cy="2688336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49056" y="4572000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51392" y="1216152"/>
            <a:ext cx="347472" cy="3264408"/>
          </a:xfrm>
          <a:prstGeom prst="rect">
            <a:avLst/>
          </a:prstGeom>
          <a:solidFill>
            <a:srgbClr val="FF6B1A">
              <a:alpha val="80000"/>
            </a:srgbClr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51392" y="4572000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253728" y="1100938"/>
            <a:ext cx="347472" cy="3379622"/>
          </a:xfrm>
          <a:prstGeom prst="rect">
            <a:avLst/>
          </a:prstGeom>
          <a:solidFill>
            <a:srgbClr val="FF6B1A">
              <a:alpha val="80000"/>
            </a:srgbClr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53728" y="4572000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656064" y="1638605"/>
            <a:ext cx="347472" cy="2841955"/>
          </a:xfrm>
          <a:prstGeom prst="rect">
            <a:avLst/>
          </a:prstGeom>
          <a:solidFill>
            <a:srgbClr val="FF8C42">
              <a:alpha val="80000"/>
            </a:srgbClr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56064" y="4572000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058400" y="1715414"/>
            <a:ext cx="347472" cy="2765146"/>
          </a:xfrm>
          <a:prstGeom prst="rect">
            <a:avLst/>
          </a:prstGeom>
          <a:solidFill>
            <a:srgbClr val="FF8C42">
              <a:alpha val="80000"/>
            </a:srgbClr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0" y="4572000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460736" y="1984248"/>
            <a:ext cx="347472" cy="2496312"/>
          </a:xfrm>
          <a:prstGeom prst="rect">
            <a:avLst/>
          </a:prstGeom>
          <a:solidFill>
            <a:srgbClr val="F4B942">
              <a:alpha val="80000"/>
            </a:srgbClr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60736" y="4572000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Z7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863072" y="2176272"/>
            <a:ext cx="347472" cy="2304288"/>
          </a:xfrm>
          <a:prstGeom prst="rect">
            <a:avLst/>
          </a:prstGeom>
          <a:solidFill>
            <a:srgbClr val="F4B942">
              <a:alpha val="80000"/>
            </a:srgbClr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863072" y="4572000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09560" y="45720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ZONE TEMPERATURE PROFILE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909560" y="480060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A3A4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RHF-1 · WALKING BEAM REHEATING FURNACE · 8 ZONES · 40m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11480" y="109728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FURNACE SETPOINT</a:t>
            </a:r>
            <a:endParaRPr lang="en-US" sz="5400" dirty="0"/>
          </a:p>
        </p:txBody>
      </p:sp>
      <p:sp>
        <p:nvSpPr>
          <p:cNvPr id="23" name="Text 21"/>
          <p:cNvSpPr/>
          <p:nvPr/>
        </p:nvSpPr>
        <p:spPr>
          <a:xfrm>
            <a:off x="411480" y="187452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5400" dirty="0"/>
          </a:p>
        </p:txBody>
      </p:sp>
      <p:sp>
        <p:nvSpPr>
          <p:cNvPr id="24" name="Shape 22"/>
          <p:cNvSpPr/>
          <p:nvPr/>
        </p:nvSpPr>
        <p:spPr>
          <a:xfrm>
            <a:off x="411480" y="2816352"/>
            <a:ext cx="2194560" cy="36576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9718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AI-DRIVEN ADVISORY SYSTEM FOR RHF-1 · HAZIRA HSM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" y="342900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Transforming reactive setpoint management into data-driven,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anticipatory optimisation — powered by 30,731 slab records.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11480" y="4434840"/>
            <a:ext cx="1508760" cy="123444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449884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30,731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84632" y="495604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Slab records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analysed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103120" y="4434840"/>
            <a:ext cx="1508760" cy="123444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76272" y="449884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R²=0.61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2176272" y="495604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FCE prediction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accuracy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794760" y="4434840"/>
            <a:ext cx="1508760" cy="123444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67912" y="449884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3–5%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3867912" y="495604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Fuel saving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identified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0" y="4434840"/>
            <a:ext cx="1508760" cy="123444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59552" y="449884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₹3–8Cr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5559552" y="495604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Annual saving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potential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CAPGEMINI INVENT  ·  AM/NS INDIA — HAZIRA FACILITY  ·  COMMERCIAL IN CONFIDENCE  ·  APRIL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6B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PROPOSAL 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Today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5394960" cy="123444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594360" cy="1234440"/>
          </a:xfrm>
          <a:prstGeom prst="rect">
            <a:avLst/>
          </a:prstGeom>
          <a:solidFill>
            <a:srgbClr val="FF6B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594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17099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Strategic context, value proposition &amp; key commitments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508760"/>
            <a:ext cx="5394960" cy="123444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26480" y="1508760"/>
            <a:ext cx="594360" cy="1234440"/>
          </a:xfrm>
          <a:prstGeom prst="rect">
            <a:avLst/>
          </a:prstGeom>
          <a:solidFill>
            <a:srgbClr val="2A3A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508760"/>
            <a:ext cx="594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812280" y="17099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Understanding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1228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RHF-1 operates today — data, fuel, and FCE patterns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5394960" cy="123444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26080"/>
            <a:ext cx="594360" cy="1234440"/>
          </a:xfrm>
          <a:prstGeom prst="rect">
            <a:avLst/>
          </a:prstGeom>
          <a:solidFill>
            <a:srgbClr val="2A3A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926080"/>
            <a:ext cx="594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51560" y="31272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Process Mapping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520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End-to-end slab journey through all 8 furnace zones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2926080"/>
            <a:ext cx="5394960" cy="123444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2926080"/>
            <a:ext cx="594360" cy="1234440"/>
          </a:xfrm>
          <a:prstGeom prst="rect">
            <a:avLst/>
          </a:prstGeom>
          <a:solidFill>
            <a:srgbClr val="2A3A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2926080"/>
            <a:ext cx="594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812280" y="31272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Identified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12280" y="3520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Root causes, quantified waste, and risk of inaction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343400"/>
            <a:ext cx="5394960" cy="123444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343400"/>
            <a:ext cx="594360" cy="1234440"/>
          </a:xfrm>
          <a:prstGeom prst="rect">
            <a:avLst/>
          </a:prstGeom>
          <a:solidFill>
            <a:srgbClr val="2A3A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343400"/>
            <a:ext cx="594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51560" y="45445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Work (Refined)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1560" y="4937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Precise boundaries, assumptions, and phased deliverables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4343400"/>
            <a:ext cx="5394960" cy="123444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4343400"/>
            <a:ext cx="594360" cy="1234440"/>
          </a:xfrm>
          <a:prstGeom prst="rect">
            <a:avLst/>
          </a:prstGeom>
          <a:solidFill>
            <a:srgbClr val="2A3A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4343400"/>
            <a:ext cx="594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812280" y="45445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 &amp; Solution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12280" y="4937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architecture, FCE model, and optimisation engine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5760720"/>
            <a:ext cx="5394960" cy="123444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5760720"/>
            <a:ext cx="594360" cy="1234440"/>
          </a:xfrm>
          <a:prstGeom prst="rect">
            <a:avLst/>
          </a:prstGeom>
          <a:solidFill>
            <a:srgbClr val="2A3A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5760720"/>
            <a:ext cx="594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1051560" y="596188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&amp; Methodology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51560" y="6355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Phase-by-phase delivery, governance, and success metrics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852160" y="5760720"/>
            <a:ext cx="530352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35040" y="6016752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MEASURABLE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SAVINGS FROM DAY ONE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CAPGEMINI INVENT  ·  RHF-1 SETPOINT OPTIMISATION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6B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 · EXECUTIVE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Programme — And Why Now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3520440" cy="2560320"/>
          </a:xfrm>
          <a:prstGeom prst="rect">
            <a:avLst/>
          </a:prstGeom>
          <a:solidFill>
            <a:srgbClr val="0A1628"/>
          </a:solidFill>
          <a:ln w="12700">
            <a:solidFill>
              <a:srgbClr val="2A3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3520440" cy="36576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4475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44475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30352" y="1965960"/>
            <a:ext cx="319125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RHF-1 is running 10–19°C above recipe FCE targets across representative production schedules. 52–88 slabs per schedule are over-heated. Z1/Z2 preheat zones are consuming 38–55°C more heat than required.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160520" y="1280160"/>
            <a:ext cx="3520440" cy="2560320"/>
          </a:xfrm>
          <a:prstGeom prst="rect">
            <a:avLst/>
          </a:prstGeom>
          <a:solidFill>
            <a:srgbClr val="0A1628"/>
          </a:solidFill>
          <a:ln w="12700">
            <a:solidFill>
              <a:srgbClr val="2A3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60520" y="1280160"/>
            <a:ext cx="352044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444752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00600" y="144475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325112" y="1965960"/>
            <a:ext cx="319125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 AI advisory system — trained on 30,731 slab records — predicts FCE dropout temperature per slab in real time and recommends the minimum-energy zone setpoints to achieve quality targets.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955280" y="1280160"/>
            <a:ext cx="3520440" cy="2560320"/>
          </a:xfrm>
          <a:prstGeom prst="rect">
            <a:avLst/>
          </a:prstGeom>
          <a:solidFill>
            <a:srgbClr val="0A1628"/>
          </a:solidFill>
          <a:ln w="12700">
            <a:solidFill>
              <a:srgbClr val="2A3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955280" y="1280160"/>
            <a:ext cx="3520440" cy="36576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444752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95360" y="144475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119872" y="1965960"/>
            <a:ext cx="319125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₹3–8 Crore per year in fuel savings through setpoint reduction of 22–55°C in preheat zones. Model validated at R²=0.61, MAE ±5.23°C. Payback in under 12 months.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365760" y="39776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4B94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OUR FOUR COMMITMENTS TO AM/NS INDIA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365760" y="4343400"/>
            <a:ext cx="2743200" cy="1737360"/>
          </a:xfrm>
          <a:prstGeom prst="rect">
            <a:avLst/>
          </a:prstGeom>
          <a:solidFill>
            <a:srgbClr val="1A2A3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65760" y="4343400"/>
            <a:ext cx="2743200" cy="411480"/>
          </a:xfrm>
          <a:prstGeom prst="rect">
            <a:avLst/>
          </a:prstGeom>
          <a:solidFill>
            <a:srgbClr val="FF6B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65760" y="4343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822960" y="440740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Live in 4 Months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475488" y="4873752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FCE prediction model validated and advisory dashboard deployed within 4 months of data access.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3291840" y="4343400"/>
            <a:ext cx="2743200" cy="173736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291840" y="4343400"/>
            <a:ext cx="2743200" cy="411480"/>
          </a:xfrm>
          <a:prstGeom prst="rect">
            <a:avLst/>
          </a:prstGeom>
          <a:solidFill>
            <a:srgbClr val="2A3A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291840" y="4343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9" name="Text 24"/>
          <p:cNvSpPr/>
          <p:nvPr/>
        </p:nvSpPr>
        <p:spPr>
          <a:xfrm>
            <a:off x="3749040" y="440740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Proven in 6 Months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3401568" y="4873752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A/B validated fuel saving measurement delivered against agreed KPI baseline.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6217920" y="4343400"/>
            <a:ext cx="2743200" cy="173736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217920" y="4343400"/>
            <a:ext cx="2743200" cy="411480"/>
          </a:xfrm>
          <a:prstGeom prst="rect">
            <a:avLst/>
          </a:prstGeom>
          <a:solidFill>
            <a:srgbClr val="2A3A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217920" y="4343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4" name="Text 29"/>
          <p:cNvSpPr/>
          <p:nvPr/>
        </p:nvSpPr>
        <p:spPr>
          <a:xfrm>
            <a:off x="6675120" y="440740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Adoption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6327648" y="4873752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operator trained; recommendation acceptance rate ≥70% by Month 6.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9144000" y="4343400"/>
            <a:ext cx="2743200" cy="173736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9144000" y="4343400"/>
            <a:ext cx="2743200" cy="411480"/>
          </a:xfrm>
          <a:prstGeom prst="rect">
            <a:avLst/>
          </a:prstGeom>
          <a:solidFill>
            <a:srgbClr val="2A3A4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9144000" y="4343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9" name="Text 34"/>
          <p:cNvSpPr/>
          <p:nvPr/>
        </p:nvSpPr>
        <p:spPr>
          <a:xfrm>
            <a:off x="9601200" y="440740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Knowledge Transfer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9253728" y="4873752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Complete model documentation, code, and governance framework handed over at programme close.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CAPGEMINI INVENT  ·  RHF-1 SETPOINT OPTIMISATION</a:t>
            </a:r>
            <a:endParaRPr lang="en-US" sz="800" dirty="0"/>
          </a:p>
        </p:txBody>
      </p:sp>
      <p:sp>
        <p:nvSpPr>
          <p:cNvPr id="43" name="Text 38"/>
          <p:cNvSpPr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 · CURRENT STATE UNDERSTANDING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RHF-1 Operates Today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657600" cy="1828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258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FOUNDATION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30,731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83080" y="16916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Slab records (Aug–Dec 2025)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19842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4,344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83080" y="20116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Hourly process readings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3042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83080" y="23317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Zone temperature channels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26243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83080" y="2651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Representative schedules analysed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60520" y="1234440"/>
            <a:ext cx="4114800" cy="1828800"/>
          </a:xfrm>
          <a:prstGeom prst="rect">
            <a:avLst/>
          </a:prstGeom>
          <a:solidFill>
            <a:srgbClr val="0A1628"/>
          </a:solidFill>
          <a:ln w="12700">
            <a:solidFill>
              <a:srgbClr val="2A3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97680" y="129844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FCE MEAN DEVIATION BY SCHEDULE  (°C above recipe)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166360" y="1600200"/>
            <a:ext cx="3143707" cy="237744"/>
          </a:xfrm>
          <a:prstGeom prst="rect">
            <a:avLst/>
          </a:prstGeom>
          <a:solidFill>
            <a:srgbClr val="FF3D5A">
              <a:alpha val="85000"/>
            </a:srgbClr>
          </a:solidFill>
          <a:ln w="12700">
            <a:solidFill>
              <a:srgbClr val="FF3D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160020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355787" y="160020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+19.1°C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166360" y="1920240"/>
            <a:ext cx="971093" cy="237744"/>
          </a:xfrm>
          <a:prstGeom prst="rect">
            <a:avLst/>
          </a:prstGeom>
          <a:solidFill>
            <a:srgbClr val="F4B942">
              <a:alpha val="85000"/>
            </a:srgbClr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192024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183173" y="192024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+5.9°C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66360" y="2240280"/>
            <a:ext cx="1464869" cy="237744"/>
          </a:xfrm>
          <a:prstGeom prst="rect">
            <a:avLst/>
          </a:prstGeom>
          <a:solidFill>
            <a:srgbClr val="F4B942">
              <a:alpha val="85000"/>
            </a:srgbClr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224028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676949" y="224028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+8.9°C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166360" y="2560320"/>
            <a:ext cx="2913278" cy="237744"/>
          </a:xfrm>
          <a:prstGeom prst="rect">
            <a:avLst/>
          </a:prstGeom>
          <a:solidFill>
            <a:srgbClr val="FF3D5A">
              <a:alpha val="85000"/>
            </a:srgbClr>
          </a:solidFill>
          <a:ln w="12700">
            <a:solidFill>
              <a:srgbClr val="FF3D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0" y="256032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125358" y="256032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+17.7°C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166360" y="2880360"/>
            <a:ext cx="2090318" cy="237744"/>
          </a:xfrm>
          <a:prstGeom prst="rect">
            <a:avLst/>
          </a:prstGeom>
          <a:solidFill>
            <a:srgbClr val="FF6B1A">
              <a:alpha val="85000"/>
            </a:srgbClr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0" y="288036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302398" y="288036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+12.7°C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366760" y="1234440"/>
            <a:ext cx="3429000" cy="1828800"/>
          </a:xfrm>
          <a:prstGeom prst="rect">
            <a:avLst/>
          </a:prstGeom>
          <a:solidFill>
            <a:srgbClr val="0A1628"/>
          </a:solidFill>
          <a:ln w="12700">
            <a:solidFill>
              <a:srgbClr val="2A3A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503920" y="129844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ZONE FUEL SLOPES (Nm³/hr per °C)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503920" y="1600200"/>
            <a:ext cx="2600298" cy="192024"/>
          </a:xfrm>
          <a:prstGeom prst="rect">
            <a:avLst/>
          </a:prstGeom>
          <a:solidFill>
            <a:srgbClr val="FF6B1A">
              <a:alpha val="80000"/>
            </a:srgbClr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0" y="1591056"/>
            <a:ext cx="1371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Z3 Heating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159082" y="1600200"/>
            <a:ext cx="7315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40.76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503920" y="1883664"/>
            <a:ext cx="2177973" cy="192024"/>
          </a:xfrm>
          <a:prstGeom prst="rect">
            <a:avLst/>
          </a:prstGeom>
          <a:solidFill>
            <a:srgbClr val="FF6B1A">
              <a:alpha val="80000"/>
            </a:srgbClr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03920" y="1874520"/>
            <a:ext cx="1371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Z2 Preheat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736757" y="1883664"/>
            <a:ext cx="7315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34.14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503920" y="2167128"/>
            <a:ext cx="1644006" cy="192024"/>
          </a:xfrm>
          <a:prstGeom prst="rect">
            <a:avLst/>
          </a:prstGeom>
          <a:solidFill>
            <a:srgbClr val="F4B942">
              <a:alpha val="80000"/>
            </a:srgbClr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0" y="2157984"/>
            <a:ext cx="1371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Z1 Preheat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202790" y="2167128"/>
            <a:ext cx="7315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25.77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503920" y="2450592"/>
            <a:ext cx="905894" cy="192024"/>
          </a:xfrm>
          <a:prstGeom prst="rect">
            <a:avLst/>
          </a:prstGeom>
          <a:solidFill>
            <a:srgbClr val="F4B942">
              <a:alpha val="80000"/>
            </a:srgbClr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03920" y="2441448"/>
            <a:ext cx="1371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Z4 Heating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9464678" y="2450592"/>
            <a:ext cx="7315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503920" y="2734056"/>
            <a:ext cx="99521" cy="192024"/>
          </a:xfrm>
          <a:prstGeom prst="rect">
            <a:avLst/>
          </a:prstGeom>
          <a:solidFill>
            <a:srgbClr val="8B9DB0">
              <a:alpha val="80000"/>
            </a:srgbClr>
          </a:solidFill>
          <a:ln w="12700">
            <a:solidFill>
              <a:srgbClr val="8B9DB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03920" y="2724912"/>
            <a:ext cx="1371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Z5–Z8 Soak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658305" y="2734056"/>
            <a:ext cx="7315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9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1.56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65760" y="3200400"/>
            <a:ext cx="2743200" cy="2560320"/>
          </a:xfrm>
          <a:prstGeom prst="rect">
            <a:avLst/>
          </a:prstGeom>
          <a:solidFill>
            <a:srgbClr val="0A1628"/>
          </a:solidFill>
          <a:ln w="12700">
            <a:solidFill>
              <a:srgbClr val="FF6B1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65760" y="3200400"/>
            <a:ext cx="2743200" cy="36576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3337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Setpoints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02920" y="3794760"/>
            <a:ext cx="246888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Zone SPs are set once per grade and not adjusted for slab thickness, width, or entry temperature. A 220mm cold slab charged at 80°C gets the same setpoint as a 200mm warm slab at 350°C.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91840" y="3200400"/>
            <a:ext cx="2743200" cy="2560320"/>
          </a:xfrm>
          <a:prstGeom prst="rect">
            <a:avLst/>
          </a:prstGeom>
          <a:solidFill>
            <a:srgbClr val="0A1628"/>
          </a:solidFill>
          <a:ln w="12700">
            <a:solidFill>
              <a:srgbClr val="FF3D5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291840" y="3200400"/>
            <a:ext cx="2743200" cy="36576"/>
          </a:xfrm>
          <a:prstGeom prst="rect">
            <a:avLst/>
          </a:prstGeom>
          <a:solidFill>
            <a:srgbClr val="FF3D5A"/>
          </a:solidFill>
          <a:ln w="12700">
            <a:solidFill>
              <a:srgbClr val="FF3D5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29000" y="3337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FCE Visibility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3429000" y="3794760"/>
            <a:ext cx="246888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Operators cannot predict FCE dropout temperature before the slab is discharged. All intervention is reactive — by which time the slab has already over-heated and fuel has been consumed.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217920" y="3200400"/>
            <a:ext cx="2743200" cy="2560320"/>
          </a:xfrm>
          <a:prstGeom prst="rect">
            <a:avLst/>
          </a:prstGeom>
          <a:solidFill>
            <a:srgbClr val="0A1628"/>
          </a:solidFill>
          <a:ln w="12700">
            <a:solidFill>
              <a:srgbClr val="F4B9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217920" y="3200400"/>
            <a:ext cx="2743200" cy="36576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55080" y="3337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Preheat Over-serving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6355080" y="3794760"/>
            <a:ext cx="246888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Z1 and Z2 are running 38–55°C above the model-optimal setpoint in severe schedules. Z3 alone costs 40.76 Nm³/hr per extra °C. This is the single largest identified waste lever.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9144000" y="3200400"/>
            <a:ext cx="2743200" cy="2560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9144000" y="3200400"/>
            <a:ext cx="27432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281160" y="3337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Coffin Slab Blind Spot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9281160" y="3794760"/>
            <a:ext cx="246888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Coffin slabs (hollow core) require an extra 8.2°C FCE compensation and +8 minutes soaking. Currently, no system flags or compensates for coffin loading — each event is managed by operator memory.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CAPGEMINI INVENT  ·  RHF-1 SETPOINT OPTIMISATION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4B94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 · HIGH-LEVEL PROCESS MAPPING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Slab Journey Through RHF-1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1430000" cy="2377440"/>
          </a:xfrm>
          <a:prstGeom prst="rect">
            <a:avLst/>
          </a:prstGeom>
          <a:solidFill>
            <a:srgbClr val="0D1B2A"/>
          </a:solidFill>
          <a:ln w="25400">
            <a:solidFill>
              <a:srgbClr val="2A3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11430000" cy="164592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3493008"/>
            <a:ext cx="11430000" cy="164592"/>
          </a:xfrm>
          <a:prstGeom prst="rect">
            <a:avLst/>
          </a:prstGeom>
          <a:solidFill>
            <a:srgbClr val="2A3A4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44752"/>
            <a:ext cx="1176016" cy="2048256"/>
          </a:xfrm>
          <a:prstGeom prst="rect">
            <a:avLst/>
          </a:prstGeom>
          <a:solidFill>
            <a:srgbClr val="1565C0">
              <a:alpha val="7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63040"/>
            <a:ext cx="1176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Z1 PREHEAT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1176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1238°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2176272"/>
            <a:ext cx="1176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actual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57200" y="2423160"/>
            <a:ext cx="11760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4B94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 1260°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2724912"/>
            <a:ext cx="1176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6B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25.8 Nm³/°C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633216" y="1444752"/>
            <a:ext cx="0" cy="2048256"/>
          </a:xfrm>
          <a:prstGeom prst="line">
            <a:avLst/>
          </a:prstGeom>
          <a:noFill/>
          <a:ln w="12700">
            <a:solidFill>
              <a:srgbClr val="2A3A4A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669792" y="1444752"/>
            <a:ext cx="1176016" cy="2048256"/>
          </a:xfrm>
          <a:prstGeom prst="rect">
            <a:avLst/>
          </a:prstGeom>
          <a:solidFill>
            <a:srgbClr val="0D7EC2">
              <a:alpha val="75000"/>
            </a:srgbClr>
          </a:solidFill>
          <a:ln w="12700">
            <a:solidFill>
              <a:srgbClr val="0D7E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69792" y="1463040"/>
            <a:ext cx="1176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Z2 PREHEAT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669792" y="1828800"/>
            <a:ext cx="1176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1239°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69792" y="2176272"/>
            <a:ext cx="1176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actual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669792" y="2423160"/>
            <a:ext cx="11760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4B94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 1265°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669792" y="2724912"/>
            <a:ext cx="1176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6B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34.1 Nm³/°C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845807" y="1444752"/>
            <a:ext cx="0" cy="2048256"/>
          </a:xfrm>
          <a:prstGeom prst="line">
            <a:avLst/>
          </a:prstGeom>
          <a:noFill/>
          <a:ln w="12700">
            <a:solidFill>
              <a:srgbClr val="2A3A4A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2882383" y="1444752"/>
            <a:ext cx="1400569" cy="2048256"/>
          </a:xfrm>
          <a:prstGeom prst="rect">
            <a:avLst/>
          </a:prstGeom>
          <a:solidFill>
            <a:srgbClr val="C25C00">
              <a:alpha val="75000"/>
            </a:srgbClr>
          </a:solidFill>
          <a:ln w="12700">
            <a:solidFill>
              <a:srgbClr val="C25C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82383" y="1463040"/>
            <a:ext cx="140056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HEATING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882383" y="1828800"/>
            <a:ext cx="14005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1314°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882383" y="2176272"/>
            <a:ext cx="140056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actual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882383" y="2423160"/>
            <a:ext cx="140056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4B94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 1320°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882383" y="2724912"/>
            <a:ext cx="140056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6B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40.8 Nm³/°C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282952" y="1444752"/>
            <a:ext cx="0" cy="2048256"/>
          </a:xfrm>
          <a:prstGeom prst="line">
            <a:avLst/>
          </a:prstGeom>
          <a:noFill/>
          <a:ln w="12700">
            <a:solidFill>
              <a:srgbClr val="2A3A4A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4319528" y="1444752"/>
            <a:ext cx="1400569" cy="2048256"/>
          </a:xfrm>
          <a:prstGeom prst="rect">
            <a:avLst/>
          </a:prstGeom>
          <a:solidFill>
            <a:srgbClr val="B04800">
              <a:alpha val="75000"/>
            </a:srgbClr>
          </a:solidFill>
          <a:ln w="12700">
            <a:solidFill>
              <a:srgbClr val="B048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19528" y="1463040"/>
            <a:ext cx="140056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Z4 HEATING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319528" y="1828800"/>
            <a:ext cx="14005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1306°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319528" y="2176272"/>
            <a:ext cx="140056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actual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319528" y="2423160"/>
            <a:ext cx="140056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4B94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 1315°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319528" y="2724912"/>
            <a:ext cx="140056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6B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14.2 Nm³/°C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720098" y="1444752"/>
            <a:ext cx="0" cy="2048256"/>
          </a:xfrm>
          <a:prstGeom prst="line">
            <a:avLst/>
          </a:prstGeom>
          <a:noFill/>
          <a:ln w="12700">
            <a:solidFill>
              <a:srgbClr val="2A3A4A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5756674" y="1444752"/>
            <a:ext cx="1131105" cy="2048256"/>
          </a:xfrm>
          <a:prstGeom prst="rect">
            <a:avLst/>
          </a:prstGeom>
          <a:solidFill>
            <a:srgbClr val="8A2200">
              <a:alpha val="75000"/>
            </a:srgbClr>
          </a:solidFill>
          <a:ln w="12700">
            <a:solidFill>
              <a:srgbClr val="8A22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56674" y="1463040"/>
            <a:ext cx="113110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Z5 SOAKING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756674" y="1828800"/>
            <a:ext cx="113110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1244°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756674" y="2176272"/>
            <a:ext cx="113110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actual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756674" y="2423160"/>
            <a:ext cx="113110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4B94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 1260°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756674" y="2724912"/>
            <a:ext cx="113110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6B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1.6 Nm³/°C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887779" y="1444752"/>
            <a:ext cx="0" cy="2048256"/>
          </a:xfrm>
          <a:prstGeom prst="line">
            <a:avLst/>
          </a:prstGeom>
          <a:noFill/>
          <a:ln w="12700">
            <a:solidFill>
              <a:srgbClr val="2A3A4A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6924355" y="1444752"/>
            <a:ext cx="1131105" cy="2048256"/>
          </a:xfrm>
          <a:prstGeom prst="rect">
            <a:avLst/>
          </a:prstGeom>
          <a:solidFill>
            <a:srgbClr val="7A1800">
              <a:alpha val="75000"/>
            </a:srgbClr>
          </a:solidFill>
          <a:ln w="12700">
            <a:solidFill>
              <a:srgbClr val="7A18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24355" y="1463040"/>
            <a:ext cx="113110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Z6 SOAKING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924355" y="1828800"/>
            <a:ext cx="113110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1244°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924355" y="2176272"/>
            <a:ext cx="113110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actual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924355" y="2423160"/>
            <a:ext cx="113110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4B94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 1258°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924355" y="2724912"/>
            <a:ext cx="113110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6B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0.7 Nm³/°C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8055459" y="1444752"/>
            <a:ext cx="0" cy="2048256"/>
          </a:xfrm>
          <a:prstGeom prst="line">
            <a:avLst/>
          </a:prstGeom>
          <a:noFill/>
          <a:ln w="12700">
            <a:solidFill>
              <a:srgbClr val="2A3A4A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8092035" y="1444752"/>
            <a:ext cx="1131105" cy="2048256"/>
          </a:xfrm>
          <a:prstGeom prst="rect">
            <a:avLst/>
          </a:prstGeom>
          <a:solidFill>
            <a:srgbClr val="6A1000">
              <a:alpha val="75000"/>
            </a:srgbClr>
          </a:solidFill>
          <a:ln w="12700">
            <a:solidFill>
              <a:srgbClr val="6A1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92035" y="1463040"/>
            <a:ext cx="113110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Z7 SOAKING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8092035" y="1828800"/>
            <a:ext cx="113110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1245°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092035" y="2176272"/>
            <a:ext cx="113110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actual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8092035" y="2423160"/>
            <a:ext cx="113110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4B94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 1258°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092035" y="2724912"/>
            <a:ext cx="113110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6B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1.0 Nm³/°C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9223140" y="1444752"/>
            <a:ext cx="0" cy="2048256"/>
          </a:xfrm>
          <a:prstGeom prst="line">
            <a:avLst/>
          </a:prstGeom>
          <a:noFill/>
          <a:ln w="12700">
            <a:solidFill>
              <a:srgbClr val="2A3A4A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9259716" y="1444752"/>
            <a:ext cx="1310748" cy="2048256"/>
          </a:xfrm>
          <a:prstGeom prst="rect">
            <a:avLst/>
          </a:prstGeom>
          <a:solidFill>
            <a:srgbClr val="5A0A00">
              <a:alpha val="75000"/>
            </a:srgbClr>
          </a:solidFill>
          <a:ln w="12700">
            <a:solidFill>
              <a:srgbClr val="5A0A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259716" y="1463040"/>
            <a:ext cx="13107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Z8 DISCHARGE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9259716" y="1828800"/>
            <a:ext cx="13107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1240°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9259716" y="2176272"/>
            <a:ext cx="13107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actual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9259716" y="2423160"/>
            <a:ext cx="13107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4B94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 1255°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9259716" y="2724912"/>
            <a:ext cx="13107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6B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0.5 Nm³/°C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365760" y="2971800"/>
            <a:ext cx="320040" cy="3200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6576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0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11521440" y="2971800"/>
            <a:ext cx="274320" cy="32004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1521440" y="29718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0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365760" y="3767328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&amp; AI LAYER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365760" y="4069080"/>
            <a:ext cx="1554480" cy="1417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365760" y="4069080"/>
            <a:ext cx="155448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57200" y="417880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 / DCS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457200" y="4544568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Zone temps, fuel flows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real-time @1Hz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1920240" y="4773168"/>
            <a:ext cx="128016" cy="0"/>
          </a:xfrm>
          <a:prstGeom prst="line">
            <a:avLst/>
          </a:prstGeom>
          <a:noFill/>
          <a:ln w="12700">
            <a:solidFill>
              <a:srgbClr val="2A3A4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048256" y="4069080"/>
            <a:ext cx="1554480" cy="1417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2048256" y="4069080"/>
            <a:ext cx="155448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139696" y="417880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MES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2139696" y="4544568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Slab schedule: grade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thickness, width, order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3602736" y="4773168"/>
            <a:ext cx="128016" cy="0"/>
          </a:xfrm>
          <a:prstGeom prst="line">
            <a:avLst/>
          </a:prstGeom>
          <a:noFill/>
          <a:ln w="12700">
            <a:solidFill>
              <a:srgbClr val="2A3A4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730752" y="4069080"/>
            <a:ext cx="1554480" cy="1417320"/>
          </a:xfrm>
          <a:prstGeom prst="rect">
            <a:avLst/>
          </a:prstGeom>
          <a:solidFill>
            <a:srgbClr val="0A1628"/>
          </a:solidFill>
          <a:ln w="12700">
            <a:solidFill>
              <a:srgbClr val="F4B9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3730752" y="4069080"/>
            <a:ext cx="1554480" cy="36576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822192" y="417880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3822192" y="4544568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Dwell time, mass flux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entry temp delta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5285232" y="4773168"/>
            <a:ext cx="128016" cy="0"/>
          </a:xfrm>
          <a:prstGeom prst="line">
            <a:avLst/>
          </a:prstGeom>
          <a:noFill/>
          <a:ln w="12700">
            <a:solidFill>
              <a:srgbClr val="2A3A4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413248" y="4069080"/>
            <a:ext cx="1554480" cy="1417320"/>
          </a:xfrm>
          <a:prstGeom prst="rect">
            <a:avLst/>
          </a:prstGeom>
          <a:solidFill>
            <a:srgbClr val="0A1628"/>
          </a:solidFill>
          <a:ln w="12700">
            <a:solidFill>
              <a:srgbClr val="FF6B1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5413248" y="4069080"/>
            <a:ext cx="1554480" cy="36576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504688" y="417880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FCE MODEL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5504688" y="4544568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R²=0.61 · MAE ±5.23°C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30,731 slab records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6967728" y="4773168"/>
            <a:ext cx="128016" cy="0"/>
          </a:xfrm>
          <a:prstGeom prst="line">
            <a:avLst/>
          </a:prstGeom>
          <a:noFill/>
          <a:ln w="12700">
            <a:solidFill>
              <a:srgbClr val="2A3A4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095744" y="4069080"/>
            <a:ext cx="1554480" cy="1417320"/>
          </a:xfrm>
          <a:prstGeom prst="rect">
            <a:avLst/>
          </a:prstGeom>
          <a:solidFill>
            <a:srgbClr val="0A1628"/>
          </a:solidFill>
          <a:ln w="12700">
            <a:solidFill>
              <a:srgbClr val="FF6B1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7095744" y="4069080"/>
            <a:ext cx="1554480" cy="36576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187184" y="417880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7187184" y="4544568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Min-energy SPs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OEM envelope enforced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8650224" y="4773168"/>
            <a:ext cx="128016" cy="0"/>
          </a:xfrm>
          <a:prstGeom prst="line">
            <a:avLst/>
          </a:prstGeom>
          <a:noFill/>
          <a:ln w="12700">
            <a:solidFill>
              <a:srgbClr val="2A3A4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778240" y="4069080"/>
            <a:ext cx="1554480" cy="1417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8778240" y="4069080"/>
            <a:ext cx="1554480" cy="36576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869680" y="417880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8869680" y="4544568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Zone SPs + saving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Confidence score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10332720" y="4773168"/>
            <a:ext cx="128016" cy="0"/>
          </a:xfrm>
          <a:prstGeom prst="line">
            <a:avLst/>
          </a:prstGeom>
          <a:noFill/>
          <a:ln w="12700">
            <a:solidFill>
              <a:srgbClr val="2A3A4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460736" y="4069080"/>
            <a:ext cx="1554480" cy="1417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99" name="Shape 97"/>
          <p:cNvSpPr/>
          <p:nvPr/>
        </p:nvSpPr>
        <p:spPr>
          <a:xfrm>
            <a:off x="10460736" y="4069080"/>
            <a:ext cx="1554480" cy="36576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0552176" y="417880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950" dirty="0"/>
          </a:p>
        </p:txBody>
      </p:sp>
      <p:sp>
        <p:nvSpPr>
          <p:cNvPr id="101" name="Text 99"/>
          <p:cNvSpPr/>
          <p:nvPr/>
        </p:nvSpPr>
        <p:spPr>
          <a:xfrm>
            <a:off x="10552176" y="4544568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Accept/Modify/Reject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Logged &amp; measured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CAPGEMINI INVENT  ·  RHF-1 SETPOINT OPTIMISATION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3D5A"/>
          </a:solidFill>
          <a:ln w="12700">
            <a:solidFill>
              <a:srgbClr val="FF3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3D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 · CHALLENGES IDENTIFIED THROUGH ASSESSMENT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Reveals — Root Causes &amp; Waste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743200" cy="1325880"/>
          </a:xfrm>
          <a:prstGeom prst="rect">
            <a:avLst/>
          </a:prstGeom>
          <a:solidFill>
            <a:srgbClr val="0A1628"/>
          </a:solidFill>
          <a:ln w="25400">
            <a:solidFill>
              <a:srgbClr val="FF3D5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9844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+14.3°C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Average FCE excess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across all 5 schedules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73552" y="1234440"/>
            <a:ext cx="2743200" cy="1325880"/>
          </a:xfrm>
          <a:prstGeom prst="rect">
            <a:avLst/>
          </a:prstGeom>
          <a:solidFill>
            <a:srgbClr val="0A1628"/>
          </a:solidFill>
          <a:ln w="25400">
            <a:solidFill>
              <a:srgbClr val="FF6B1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64992" y="129844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364992" y="19202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Overheated slabs per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5-schedule sample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81344" y="1234440"/>
            <a:ext cx="2743200" cy="1325880"/>
          </a:xfrm>
          <a:prstGeom prst="rect">
            <a:avLst/>
          </a:prstGeom>
          <a:solidFill>
            <a:srgbClr val="0A1628"/>
          </a:solidFill>
          <a:ln w="25400">
            <a:solidFill>
              <a:srgbClr val="F4B9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72784" y="129844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~1,176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272784" y="19202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Nm³/hr fuel waste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identifiable &amp; avoidable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089136" y="1234440"/>
            <a:ext cx="2743200" cy="1325880"/>
          </a:xfrm>
          <a:prstGeom prst="rect">
            <a:avLst/>
          </a:prstGeom>
          <a:solidFill>
            <a:srgbClr val="0A1628"/>
          </a:solidFill>
          <a:ln w="25400">
            <a:solidFill>
              <a:srgbClr val="00E5A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80576" y="129844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₹5Cr+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9180576" y="19202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Annual saving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opportunity at stake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743200"/>
            <a:ext cx="5577840" cy="1737360"/>
          </a:xfrm>
          <a:prstGeom prst="rect">
            <a:avLst/>
          </a:prstGeom>
          <a:solidFill>
            <a:srgbClr val="0A1628"/>
          </a:solidFill>
          <a:ln w="12700">
            <a:solidFill>
              <a:srgbClr val="FF3D5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743200"/>
            <a:ext cx="502920" cy="1737360"/>
          </a:xfrm>
          <a:prstGeom prst="rect">
            <a:avLst/>
          </a:prstGeom>
          <a:solidFill>
            <a:srgbClr val="FF3D5A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743200"/>
            <a:ext cx="502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288036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Speed/Dimension Compensation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3218688"/>
            <a:ext cx="48463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Zone SPs are static recipes. Slab thickness (200–235mm), width (1040–1700mm) and entry temp (25–450°C) vary continuously but setpoints do not adapt. The same SP serves a cold 235mm slab and a warm 200mm slab — producing systematic FCE deviation.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60120" y="4160520"/>
            <a:ext cx="4846320" cy="36576"/>
          </a:xfrm>
          <a:prstGeom prst="rect">
            <a:avLst/>
          </a:prstGeom>
          <a:solidFill>
            <a:srgbClr val="FF3D5A">
              <a:alpha val="50000"/>
            </a:srgbClr>
          </a:solidFill>
          <a:ln w="12700">
            <a:solidFill>
              <a:srgbClr val="FF3D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4206240"/>
            <a:ext cx="4846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±15°C FCE swing between cold-thick and warm-thin slabs at identical SP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217920" y="2743200"/>
            <a:ext cx="5577840" cy="1737360"/>
          </a:xfrm>
          <a:prstGeom prst="rect">
            <a:avLst/>
          </a:prstGeom>
          <a:solidFill>
            <a:srgbClr val="0A1628"/>
          </a:solidFill>
          <a:ln w="12700">
            <a:solidFill>
              <a:srgbClr val="FF6B1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2743200"/>
            <a:ext cx="502920" cy="1737360"/>
          </a:xfrm>
          <a:prstGeom prst="rect">
            <a:avLst/>
          </a:prstGeom>
          <a:solidFill>
            <a:srgbClr val="FF6B1A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743200"/>
            <a:ext cx="502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12280" y="288036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Z1/Z2 Systematic Over-Firing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12280" y="3218688"/>
            <a:ext cx="48463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Preheat zones (Z1, Z2) are the highest fuel-per-°C zones outside Z3. In severe schedules they run 38–55°C above the model optimum. Z1 saves 25.77 Nm³/hr per °C reduction; Z2 saves 34.14 Nm³/hr. Combined preheat waste is the largest single saving lever.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12280" y="4160520"/>
            <a:ext cx="4846320" cy="36576"/>
          </a:xfrm>
          <a:prstGeom prst="rect">
            <a:avLst/>
          </a:prstGeom>
          <a:solidFill>
            <a:srgbClr val="FF6B1A">
              <a:alpha val="50000"/>
            </a:srgbClr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12280" y="4206240"/>
            <a:ext cx="4846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~500–900 Nm³/hr excess fuel attributable to preheat over-serving alone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4617720"/>
            <a:ext cx="5577840" cy="1737360"/>
          </a:xfrm>
          <a:prstGeom prst="rect">
            <a:avLst/>
          </a:prstGeom>
          <a:solidFill>
            <a:srgbClr val="0A1628"/>
          </a:solidFill>
          <a:ln w="12700">
            <a:solidFill>
              <a:srgbClr val="F4B9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4617720"/>
            <a:ext cx="502920" cy="1737360"/>
          </a:xfrm>
          <a:prstGeom prst="rect">
            <a:avLst/>
          </a:prstGeom>
          <a:solidFill>
            <a:srgbClr val="F4B942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617720"/>
            <a:ext cx="502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60120" y="475488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Z6 Model Coefficient Sign Error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60120" y="5093208"/>
            <a:ext cx="48463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legacy prototype model had Z6 with a NEGATIVE FCE coefficient (−0.007) — implying raising Z6 SP reduces FCE. The schedule model fitted on actual measured temperatures shows Z6 is POSITIVE (+0.013). Incorrect sign leads to wrong advisory direction for soaking zone management.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60120" y="6035040"/>
            <a:ext cx="4846320" cy="36576"/>
          </a:xfrm>
          <a:prstGeom prst="rect">
            <a:avLst/>
          </a:prstGeom>
          <a:solidFill>
            <a:srgbClr val="F4B942">
              <a:alpha val="50000"/>
            </a:srgbClr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0120" y="6080760"/>
            <a:ext cx="4846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Advisory recommendations systematically biased in soaking zone optimisation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17920" y="4617720"/>
            <a:ext cx="5577840" cy="1737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17920" y="4617720"/>
            <a:ext cx="502920" cy="1737360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4617720"/>
            <a:ext cx="502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12280" y="475488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Transition FCE Steps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12280" y="5093208"/>
            <a:ext cx="48463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When recipe target increases between consecutive slabs (e.g. 1220→1230°C), the recommended zone temperatures step up immediately — causing thermal shock and PLC hunting. No gradual ramp logic exists in the current operation, producing FCE excursions during every recipe change.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812280" y="6035040"/>
            <a:ext cx="4846320" cy="36576"/>
          </a:xfrm>
          <a:prstGeom prst="rect">
            <a:avLst/>
          </a:prstGeom>
          <a:solidFill>
            <a:srgbClr val="00D4FF">
              <a:alpha val="5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12280" y="6080760"/>
            <a:ext cx="4846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FCE spike of 3–8°C at every recipe transition; upstream quality risk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CAPGEMINI INVENT  ·  RHF-1 SETPOINT OPTIMISATION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4B94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 · SCOPE OF WORK — REFINED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Precisely What We Will Deliver — And What We Will Not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5394960" cy="4069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5394960" cy="411480"/>
          </a:xfrm>
          <a:prstGeom prst="rect">
            <a:avLst/>
          </a:prstGeom>
          <a:solidFill>
            <a:srgbClr val="00E5A0">
              <a:alpha val="8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6187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 SCOPE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FCE dropout temperature prediction model (all 8 zones, R²≥0.61 target)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05740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Zone setpoint optimisation engine — minimum energy, OEM constraints enforced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37744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Gradual FCE ramp logic across recipe target transitions (3-slab window)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69748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Per-zone energy quantification: E = (COREX / 5.12) + NG per zone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301752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Coffin slab detection and FCE compensation (−8.2°C model adjustment)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333756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Operator advisory dashboard — live FCE prediction, zone bars, SP recommendations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65760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Accept / Modify / Reject workflow with full audit trail and operator logging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97764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OT-to-IT data pipeline (AM/NS India provides access; Capgemini builds pipeline)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29768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 governance framework, monthly performance reviews, retraining protocol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461772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Operator and supervisor training + full knowledge transfer at programme close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89320" y="1234440"/>
            <a:ext cx="3200400" cy="2331720"/>
          </a:xfrm>
          <a:prstGeom prst="rect">
            <a:avLst/>
          </a:prstGeom>
          <a:solidFill>
            <a:srgbClr val="0A1628"/>
          </a:solidFill>
          <a:ln w="12700">
            <a:solidFill>
              <a:srgbClr val="FF3D5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89320" y="1234440"/>
            <a:ext cx="3200400" cy="411480"/>
          </a:xfrm>
          <a:prstGeom prst="rect">
            <a:avLst/>
          </a:prstGeom>
          <a:solidFill>
            <a:srgbClr val="FF3D5A">
              <a:alpha val="80000"/>
            </a:srgbClr>
          </a:solidFill>
          <a:ln w="12700">
            <a:solidFill>
              <a:srgbClr val="FF3D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26187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OUT OF 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26480" y="171907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3D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✕  </a:t>
            </a:r>
            <a:pPr indent="0" marL="0">
              <a:buNone/>
            </a:pPr>
            <a:r>
              <a:rPr lang="en-US" sz="9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Any furnace other than RHF-1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126480" y="203911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3D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✕  </a:t>
            </a:r>
            <a:pPr indent="0" marL="0">
              <a:buNone/>
            </a:pPr>
            <a:r>
              <a:rPr lang="en-US" sz="9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PLC write-back / closed-loop control (Phase 2)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26480" y="23591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3D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✕  </a:t>
            </a:r>
            <a:pPr indent="0" marL="0">
              <a:buNone/>
            </a:pPr>
            <a:r>
              <a:rPr lang="en-US" sz="9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Rolling mill downstream optimisation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26480" y="267919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3D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✕  </a:t>
            </a:r>
            <a:pPr indent="0" marL="0">
              <a:buNone/>
            </a:pPr>
            <a:r>
              <a:rPr lang="en-US" sz="9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ERP / SAP integration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26480" y="299923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3D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✕  </a:t>
            </a:r>
            <a:pPr indent="0" marL="0">
              <a:buNone/>
            </a:pPr>
            <a:r>
              <a:rPr lang="en-US" sz="9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Surface defect quality inspection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26480" y="331927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3D5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✕  </a:t>
            </a:r>
            <a:pPr indent="0" marL="0">
              <a:buNone/>
            </a:pPr>
            <a:r>
              <a:rPr lang="en-US" sz="9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Refractory condition monitoring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89320" y="3703320"/>
            <a:ext cx="3200400" cy="1600200"/>
          </a:xfrm>
          <a:prstGeom prst="rect">
            <a:avLst/>
          </a:prstGeom>
          <a:solidFill>
            <a:srgbClr val="0A1628"/>
          </a:solidFill>
          <a:ln w="12700">
            <a:solidFill>
              <a:srgbClr val="F4B9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89320" y="3703320"/>
            <a:ext cx="3200400" cy="411480"/>
          </a:xfrm>
          <a:prstGeom prst="rect">
            <a:avLst/>
          </a:prstGeom>
          <a:solidFill>
            <a:srgbClr val="F4B942">
              <a:alpha val="80000"/>
            </a:srgbClr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373075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KEY ASSUMPTIONS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26480" y="417880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B94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OT read access within 4 weeks of kick-off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26480" y="44531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B94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Min. 6 months historical data available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26480" y="472744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B94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8-zone configuration unchanged during delivery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26480" y="500176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B94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operators + 1 SM available for UAT (Month 5–6)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326880" y="1234440"/>
            <a:ext cx="2514600" cy="4069080"/>
          </a:xfrm>
          <a:prstGeom prst="rect">
            <a:avLst/>
          </a:prstGeom>
          <a:solidFill>
            <a:srgbClr val="0A1628"/>
          </a:solidFill>
          <a:ln w="12700">
            <a:solidFill>
              <a:srgbClr val="FF6B1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326880" y="1234440"/>
            <a:ext cx="2514600" cy="411480"/>
          </a:xfrm>
          <a:prstGeom prst="rect">
            <a:avLst/>
          </a:prstGeom>
          <a:solidFill>
            <a:srgbClr val="FF6B1A">
              <a:alpha val="80000"/>
            </a:srgbClr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64040" y="126187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9372600" y="1764792"/>
            <a:ext cx="320040" cy="320040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72600" y="17647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528048" y="2084832"/>
            <a:ext cx="0" cy="384048"/>
          </a:xfrm>
          <a:prstGeom prst="line">
            <a:avLst/>
          </a:prstGeom>
          <a:noFill/>
          <a:ln w="12700">
            <a:solidFill>
              <a:srgbClr val="2A3A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65792" y="178308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765792" y="196596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6B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M1–2  ·  Data Pipeline Live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9372600" y="2468880"/>
            <a:ext cx="320040" cy="320040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7260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528048" y="2788920"/>
            <a:ext cx="0" cy="384048"/>
          </a:xfrm>
          <a:prstGeom prst="line">
            <a:avLst/>
          </a:prstGeom>
          <a:noFill/>
          <a:ln w="12700">
            <a:solidFill>
              <a:srgbClr val="2A3A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765792" y="248716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765792" y="2670048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6B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M3–4  ·  Model Validated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9372600" y="3172968"/>
            <a:ext cx="320040" cy="320040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72600" y="31729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9528048" y="3493008"/>
            <a:ext cx="0" cy="384048"/>
          </a:xfrm>
          <a:prstGeom prst="line">
            <a:avLst/>
          </a:prstGeom>
          <a:noFill/>
          <a:ln w="12700">
            <a:solidFill>
              <a:srgbClr val="2A3A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765792" y="319125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Live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765792" y="3374136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6B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M5–6  ·  Dashboard Go-Live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9372600" y="3877056"/>
            <a:ext cx="320040" cy="320040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72600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9528048" y="4197096"/>
            <a:ext cx="0" cy="384048"/>
          </a:xfrm>
          <a:prstGeom prst="line">
            <a:avLst/>
          </a:prstGeom>
          <a:noFill/>
          <a:ln w="12700">
            <a:solidFill>
              <a:srgbClr val="2A3A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765792" y="389534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9765792" y="4078224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6B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M7–8  ·  Savings Validated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9372600" y="4581144"/>
            <a:ext cx="320040" cy="320040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372600" y="45811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765792" y="459943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9765792" y="4782312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6B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M9  ·  Full Handover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CAPGEMINI INVENT  ·  RHF-1 SETPOINT OPTIMISATION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6B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 · SOLUTION — OUR VISION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Intelligent Furnace Advisor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1147572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61872"/>
            <a:ext cx="11109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slab that enters RHF-1 exits at exactly the right temperature — no hotter, no cooler — using the minimum fuel required. Our AI advisor makes every operator as effective as the plant's best operator, on every shift, every day.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6B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MODEL ARCHITECTURE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1371600" cy="3063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377440"/>
            <a:ext cx="1371600" cy="347472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423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281635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Slab: grade, thickness, width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38912" y="324612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Entry temperature (°C)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38912" y="367588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Zone temps Z1–Z8 (actual)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8912" y="4105656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COREX + NG flows per zone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38912" y="4535424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L2 MES next-slab schedule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38912" y="496519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Coffin slab flag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737360" y="3995928"/>
            <a:ext cx="109728" cy="0"/>
          </a:xfrm>
          <a:prstGeom prst="line">
            <a:avLst/>
          </a:prstGeom>
          <a:noFill/>
          <a:ln w="12700">
            <a:solidFill>
              <a:srgbClr val="2A3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47088" y="2377440"/>
            <a:ext cx="1371600" cy="3063240"/>
          </a:xfrm>
          <a:prstGeom prst="rect">
            <a:avLst/>
          </a:prstGeom>
          <a:solidFill>
            <a:srgbClr val="0A1628"/>
          </a:solidFill>
          <a:ln w="12700">
            <a:solidFill>
              <a:srgbClr val="F4B9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847088" y="2377440"/>
            <a:ext cx="1371600" cy="347472"/>
          </a:xfrm>
          <a:prstGeom prst="rect">
            <a:avLst/>
          </a:prstGeom>
          <a:solidFill>
            <a:srgbClr val="F4B942">
              <a:alpha val="80000"/>
            </a:srgbClr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47088" y="2423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20240" y="281635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Dwell time per zone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920240" y="324612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Mass flux (thk × width)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920240" y="367588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Entry temp delta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920240" y="4105656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Thermal inertia windows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920240" y="4535424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Grade-change lag flags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920240" y="496519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Energy = (COREX/5.12)+NG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18688" y="3995928"/>
            <a:ext cx="109728" cy="0"/>
          </a:xfrm>
          <a:prstGeom prst="line">
            <a:avLst/>
          </a:prstGeom>
          <a:noFill/>
          <a:ln w="12700">
            <a:solidFill>
              <a:srgbClr val="2A3A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28416" y="2377440"/>
            <a:ext cx="1371600" cy="3063240"/>
          </a:xfrm>
          <a:prstGeom prst="rect">
            <a:avLst/>
          </a:prstGeom>
          <a:solidFill>
            <a:srgbClr val="0A1628"/>
          </a:solidFill>
          <a:ln w="12700">
            <a:solidFill>
              <a:srgbClr val="FF6B1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28416" y="2377440"/>
            <a:ext cx="1371600" cy="347472"/>
          </a:xfrm>
          <a:prstGeom prst="rect">
            <a:avLst/>
          </a:prstGeom>
          <a:solidFill>
            <a:srgbClr val="FF6B1A">
              <a:alpha val="80000"/>
            </a:srgbClr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28416" y="2423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FCE MODEL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01568" y="281635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R² = 0.6088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401568" y="324612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MAE ± 5.23°C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01568" y="367588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n = 30,731 slabs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401568" y="4105656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Zone-weighted regression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401568" y="4535424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Trained on ACTUAL temps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401568" y="496519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Fixed SP offset correction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00016" y="3995928"/>
            <a:ext cx="109728" cy="0"/>
          </a:xfrm>
          <a:prstGeom prst="line">
            <a:avLst/>
          </a:prstGeom>
          <a:noFill/>
          <a:ln w="12700">
            <a:solidFill>
              <a:srgbClr val="2A3A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09744" y="2377440"/>
            <a:ext cx="1371600" cy="3063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09744" y="2377440"/>
            <a:ext cx="1371600" cy="347472"/>
          </a:xfrm>
          <a:prstGeom prst="rect">
            <a:avLst/>
          </a:prstGeom>
          <a:solidFill>
            <a:srgbClr val="00E5A0">
              <a:alpha val="8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9744" y="2423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82896" y="281635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FCE dropout prediction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82896" y="324612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Zone: OK/Over/Under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882896" y="367588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8 zone setpoints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882896" y="4105656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Confidence score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82896" y="4535424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Nm³/hr saving per zone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882896" y="496519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 Explanation (top-3 factors)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263640" y="205740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ADVISORY DASHBOARD PANELS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263640" y="2377440"/>
            <a:ext cx="2578608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263640" y="2377440"/>
            <a:ext cx="2578608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73368" y="24688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Strip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373368" y="276148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 fuel, FCE avg, overheated slab count, shift SFC vs target — always visible, RAG-coded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9006840" y="2377440"/>
            <a:ext cx="2578608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6B1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9006840" y="2377440"/>
            <a:ext cx="2578608" cy="36576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16568" y="24688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Status Bars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9116568" y="276148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 vertical bars: SP vs actual vs AI-predicted impact. Green/amber/red per zone. Refreshes ≤90s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263640" y="3383280"/>
            <a:ext cx="2578608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F4B9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263640" y="3383280"/>
            <a:ext cx="2578608" cy="36576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73368" y="34747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Panel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373368" y="37673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Recommended SP per zone · Delta from current · Confidence score · Nm³/hr saving · One-click Accept/Modify/Reject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9006840" y="3383280"/>
            <a:ext cx="2578608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9006840" y="3383280"/>
            <a:ext cx="2578608" cy="36576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116568" y="34747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FCE Prediction Table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9116568" y="37673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Per-slab FCE prediction · Recipe target · Deviation · Heat-path mini-bars across 8 zones · Updates on every slider move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263640" y="4389120"/>
            <a:ext cx="2578608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6B1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6263640" y="4389120"/>
            <a:ext cx="2578608" cy="36576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73368" y="44805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Slab Queue Viewer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373368" y="47731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slabs in queue · Grade · Entry temp · Predicted FCE · Zone position · Coffin flag · Status dot colour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9006840" y="4389120"/>
            <a:ext cx="2578608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9006840" y="4389120"/>
            <a:ext cx="2578608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116568" y="44805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Progress Bar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9116568" y="47731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Current fuel vs P25 efficient baseline · Optimal marker · Potential Nm³/hr saving — live as operator adjusts SPs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6263640" y="5376672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4B94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OUR APPROACH IS DIFFERENT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263640" y="5650992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B94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★  </a:t>
            </a:r>
            <a:pPr indent="0" marL="0"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Schedule model fitted on ACTUAL zone temps — not SP-derived proxies — giving 161°C more accurate intercept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263640" y="5907024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B94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★  </a:t>
            </a:r>
            <a:pPr indent="0" marL="0"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Gradual 3-slab FCE ramp prevents thermal shocks at recipe transitions — unique to this implementation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6263640" y="6163056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B94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★  </a:t>
            </a:r>
            <a:pPr indent="0" marL="0"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Z6 sign-flip corrected: positive soaking coefficient (+0.013) properly included in advisory boost logic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CAPGEMINI INVENT  ·  RHF-1 SETPOINT OPTIMISATION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0E5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07 · APPROACH &amp; 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Will Deliver — Phase by Phase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2148840" cy="3657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61872"/>
            <a:ext cx="2148840" cy="594360"/>
          </a:xfrm>
          <a:prstGeom prst="rect">
            <a:avLst/>
          </a:prstGeom>
          <a:solidFill>
            <a:srgbClr val="00D4FF">
              <a:alpha val="8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9844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499616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Months 1–2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90195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OT data pipeline build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6974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SCADA historian connect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1089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Data quality audit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Architecture sign-off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9319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Baseline KPI freeze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4535424"/>
            <a:ext cx="2148840" cy="384048"/>
          </a:xfrm>
          <a:prstGeom prst="rect">
            <a:avLst/>
          </a:prstGeom>
          <a:solidFill>
            <a:srgbClr val="2A3A4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5445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M1: Data Pipeline Live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14600" y="3090672"/>
            <a:ext cx="182880" cy="0"/>
          </a:xfrm>
          <a:prstGeom prst="line">
            <a:avLst/>
          </a:prstGeom>
          <a:noFill/>
          <a:ln w="12700">
            <a:solidFill>
              <a:srgbClr val="2A3A4A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2697480" y="1261872"/>
            <a:ext cx="2148840" cy="3657600"/>
          </a:xfrm>
          <a:prstGeom prst="rect">
            <a:avLst/>
          </a:prstGeom>
          <a:solidFill>
            <a:srgbClr val="0A1628"/>
          </a:solidFill>
          <a:ln w="12700">
            <a:solidFill>
              <a:srgbClr val="F4B9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697480" y="1261872"/>
            <a:ext cx="2148840" cy="594360"/>
          </a:xfrm>
          <a:prstGeom prst="rect">
            <a:avLst/>
          </a:prstGeom>
          <a:solidFill>
            <a:srgbClr val="F4B942">
              <a:alpha val="85000"/>
            </a:srgbClr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88920" y="129844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88920" y="1499616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Months 3–4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88920" y="190195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88920" y="22860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FCE regression model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88920" y="26974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Zone coefficient calibration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88920" y="31089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Optimisation engine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88920" y="35204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Deviation classifier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88920" y="39319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Feature engineering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697480" y="4535424"/>
            <a:ext cx="2148840" cy="384048"/>
          </a:xfrm>
          <a:prstGeom prst="rect">
            <a:avLst/>
          </a:prstGeom>
          <a:solidFill>
            <a:srgbClr val="2A3A4A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88920" y="45445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M2: Model Validated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46320" y="3090672"/>
            <a:ext cx="182880" cy="0"/>
          </a:xfrm>
          <a:prstGeom prst="line">
            <a:avLst/>
          </a:prstGeom>
          <a:noFill/>
          <a:ln w="12700">
            <a:solidFill>
              <a:srgbClr val="2A3A4A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5029200" y="1261872"/>
            <a:ext cx="2148840" cy="36576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6B1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29200" y="1261872"/>
            <a:ext cx="2148840" cy="594360"/>
          </a:xfrm>
          <a:prstGeom prst="rect">
            <a:avLst/>
          </a:prstGeom>
          <a:solidFill>
            <a:srgbClr val="FF6B1A">
              <a:alpha val="85000"/>
            </a:srgbClr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129844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120640" y="1499616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Months 5–6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120640" y="190195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LIVE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20640" y="22860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Dashboard deployment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20640" y="26974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Accept/Modify/Reject UI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20640" y="31089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Operator training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20640" y="35204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Feedback collection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20640" y="39319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Shadow-mode validation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29200" y="4535424"/>
            <a:ext cx="2148840" cy="384048"/>
          </a:xfrm>
          <a:prstGeom prst="rect">
            <a:avLst/>
          </a:prstGeom>
          <a:solidFill>
            <a:srgbClr val="2A3A4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0" y="45445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M3: Dashboard Go-Live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178040" y="3090672"/>
            <a:ext cx="182880" cy="0"/>
          </a:xfrm>
          <a:prstGeom prst="line">
            <a:avLst/>
          </a:prstGeom>
          <a:noFill/>
          <a:ln w="12700">
            <a:solidFill>
              <a:srgbClr val="2A3A4A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7360920" y="1261872"/>
            <a:ext cx="2148840" cy="36576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3D5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360920" y="1261872"/>
            <a:ext cx="2148840" cy="594360"/>
          </a:xfrm>
          <a:prstGeom prst="rect">
            <a:avLst/>
          </a:prstGeom>
          <a:solidFill>
            <a:srgbClr val="FF3D5A">
              <a:alpha val="85000"/>
            </a:srgbClr>
          </a:solidFill>
          <a:ln w="12700">
            <a:solidFill>
              <a:srgbClr val="FF3D5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52360" y="129844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452360" y="1499616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Months 7–8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452360" y="190195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452360" y="22860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A/B performance test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452360" y="26974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Model recalibration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452360" y="31089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Savings measurement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452360" y="35204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Phase 2 readiness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452360" y="39319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Governance handover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360920" y="4535424"/>
            <a:ext cx="2148840" cy="384048"/>
          </a:xfrm>
          <a:prstGeom prst="rect">
            <a:avLst/>
          </a:prstGeom>
          <a:solidFill>
            <a:srgbClr val="2A3A4A"/>
          </a:solidFill>
          <a:ln w="12700">
            <a:solidFill>
              <a:srgbClr val="FF3D5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52360" y="45445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3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M4: Savings Validated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9509760" y="3090672"/>
            <a:ext cx="182880" cy="0"/>
          </a:xfrm>
          <a:prstGeom prst="line">
            <a:avLst/>
          </a:prstGeom>
          <a:noFill/>
          <a:ln w="12700">
            <a:solidFill>
              <a:srgbClr val="2A3A4A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9692640" y="1261872"/>
            <a:ext cx="2148840" cy="3657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9692640" y="1261872"/>
            <a:ext cx="2148840" cy="594360"/>
          </a:xfrm>
          <a:prstGeom prst="rect">
            <a:avLst/>
          </a:prstGeom>
          <a:solidFill>
            <a:srgbClr val="00E5A0">
              <a:alpha val="85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784080" y="129844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9784080" y="1499616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Month 9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9784080" y="1901952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9784080" y="22860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Knowledge transfer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784080" y="26974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Full documentation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9784080" y="31089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Support model live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9784080" y="35204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PSC close-out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9784080" y="39319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Phase 2 scoping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9692640" y="4535424"/>
            <a:ext cx="2148840" cy="384048"/>
          </a:xfrm>
          <a:prstGeom prst="rect">
            <a:avLst/>
          </a:prstGeom>
          <a:solidFill>
            <a:srgbClr val="2A3A4A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784080" y="45445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M5: Full Handover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365760" y="5029200"/>
            <a:ext cx="5943600" cy="1508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502920" y="5102352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0D4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GOVERNANCE MODEL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02920" y="5394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Programme Steering (PSC)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2834640" y="5394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VP Ops + Capgemini MD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892040" y="5394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502920" y="5715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Project Mgmt (PMC)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2834640" y="5715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AM/NS PM + Capgemini PM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892040" y="57150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Bi-weekly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502920" y="6035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 Governance Board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2834640" y="6035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Process Eng + DS Team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892040" y="6035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6492240" y="5029200"/>
            <a:ext cx="5349240" cy="1508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6629400" y="510235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0E5A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SUCCESS METRICS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6629400" y="53675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FCE prediction accuracy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8961120" y="536752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R² ≥ 0.60, MAE ≤ ±6°C on held-out data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6629400" y="55961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Alert precision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8961120" y="559612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&lt; 1 false alarm per 10 alerts (Type I &lt; 10%)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6629400" y="58247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Alert recall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8961120" y="582472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&lt; 5% true deviations missed (Type II &lt; 5%)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6629400" y="60533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Fuel saving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8961120" y="605332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≥ 3% SFC reduction vs baseline, A/B validated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6629400" y="62819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Adoption rate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8961120" y="628192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≥ 70% recommendations accepted by Month 6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CAPGEMINI INVENT  ·  RHF-1 SETPOINT OPTIMISATION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6B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Begin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Journey Together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2240280"/>
            <a:ext cx="411480" cy="411480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240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26771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Alignment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5146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Review scope, timeline, and commercial terms. Target: agreement within 2 weeks.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" y="2651760"/>
            <a:ext cx="0" cy="548640"/>
          </a:xfrm>
          <a:prstGeom prst="line">
            <a:avLst/>
          </a:prstGeom>
          <a:noFill/>
          <a:ln w="12700">
            <a:solidFill>
              <a:srgbClr val="2A3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3200400"/>
            <a:ext cx="411480" cy="411480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200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322783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 Meeting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34747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Joint session with AM/NS IT, Process Eng, and Capgemini team. Agree data access plan.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3611880"/>
            <a:ext cx="0" cy="548640"/>
          </a:xfrm>
          <a:prstGeom prst="line">
            <a:avLst/>
          </a:prstGeom>
          <a:noFill/>
          <a:ln w="12700">
            <a:solidFill>
              <a:srgbClr val="2A3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4160520"/>
            <a:ext cx="411480" cy="411480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160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41879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Data Access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44348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AM/NS India IT provides SCADA historian and L2 MES read access within 4 weeks.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6928" y="4572000"/>
            <a:ext cx="0" cy="548640"/>
          </a:xfrm>
          <a:prstGeom prst="line">
            <a:avLst/>
          </a:prstGeom>
          <a:noFill/>
          <a:ln w="12700">
            <a:solidFill>
              <a:srgbClr val="2A3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5120640"/>
            <a:ext cx="411480" cy="411480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5120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514807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Begin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53949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Capgemini builds data pipeline. Data quality audit completed. Architecture signed off.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349240" y="50292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6B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OUR COMMITMENT TO AM/NS INDIA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49240" y="91440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programme built on facts,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promises.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5349240" y="2057400"/>
            <a:ext cx="3017520" cy="1261872"/>
          </a:xfrm>
          <a:prstGeom prst="rect">
            <a:avLst/>
          </a:prstGeom>
          <a:solidFill>
            <a:srgbClr val="0A1628"/>
          </a:solidFill>
          <a:ln w="12700">
            <a:solidFill>
              <a:srgbClr val="FF6B1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0" y="2148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30,731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5486400" y="266090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Slab records already analysed — model coefficients validated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641080" y="2057400"/>
            <a:ext cx="3017520" cy="1261872"/>
          </a:xfrm>
          <a:prstGeom prst="rect">
            <a:avLst/>
          </a:prstGeom>
          <a:solidFill>
            <a:srgbClr val="0A1628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778240" y="2148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R²=0.61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8778240" y="266090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FCE prediction model accuracy demonstrated on real Hazira data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349240" y="3474720"/>
            <a:ext cx="3017520" cy="1261872"/>
          </a:xfrm>
          <a:prstGeom prst="rect">
            <a:avLst/>
          </a:prstGeom>
          <a:solidFill>
            <a:srgbClr val="0A1628"/>
          </a:solidFill>
          <a:ln w="12700">
            <a:solidFill>
              <a:srgbClr val="F4B94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486400" y="3566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Schedules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5486400" y="407822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Covering S1–S5, Aug–Dec 2025, proving consistent over-heating pattern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641080" y="3474720"/>
            <a:ext cx="3017520" cy="1261872"/>
          </a:xfrm>
          <a:prstGeom prst="rect">
            <a:avLst/>
          </a:prstGeom>
          <a:solidFill>
            <a:srgbClr val="0A1628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778240" y="3566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₹3–8Cr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8778240" y="407822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Annual saving estimate grounded in actual zone fuel slopes and FCE deviations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349240" y="5074920"/>
            <a:ext cx="6492240" cy="141732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49240" y="5074920"/>
            <a:ext cx="54864" cy="1417320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77840" y="519379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CAPGEMINI INVENT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577840" y="546811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RHF-1 Furnace Setpoint Optimisation · AM/NS India, Hazira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577840" y="574243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1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Programme Director · Lead Data Scientist · Solution Architect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577840" y="6016752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COMMERCIAL IN CONFIDENCE  ·  APRIL 2026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A2A3A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CAPGEMINI INVENT  ·  RHF-1 SETPOINT OPTIMISATION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74320" y="6556248"/>
            <a:ext cx="1161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D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2026-04-17T05:44:13Z</dcterms:created>
  <dcterms:modified xsi:type="dcterms:W3CDTF">2026-04-17T05:44:13Z</dcterms:modified>
</cp:coreProperties>
</file>